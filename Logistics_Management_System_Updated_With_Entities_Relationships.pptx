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426"/>
                </a:solidFill>
                <a:latin typeface="Aptos"/>
              </a:defRPr>
            </a:pPr>
            <a:r>
              <a:t>CLIENT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621792"/>
            <a:ext cx="2468880" cy="384048"/>
          </a:xfrm>
          <a:prstGeom prst="round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426"/>
                </a:solidFill>
                <a:latin typeface="Aptos"/>
              </a:defRPr>
            </a:pPr>
            <a:r>
              <a:t>CLIENT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138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t>LOGISTICS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7863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A9B8CD"/>
                </a:solidFill>
                <a:latin typeface="Aptos"/>
              </a:defRPr>
            </a:pPr>
            <a:r>
              <a:t>A complete logistics order management REST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1BEEF"/>
                </a:solidFill>
                <a:latin typeface="Aptos"/>
              </a:defRPr>
            </a:pPr>
            <a:r>
              <a:t>Spring Boot  •  REST API  •  MySQL  •  JPA/Hibernate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8412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Swagger/OpenAPI  •  Actuator  •  Security  •  AOP  •  Scheduling  •  Testing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1143000"/>
            <a:ext cx="182880" cy="18288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509760" y="1234440"/>
            <a:ext cx="1143000" cy="91440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561320" y="2057400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9738360" y="2148840"/>
            <a:ext cx="914400" cy="109728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646920" y="3154679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738360" y="3246120"/>
            <a:ext cx="1280160" cy="109728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27080" y="4251960"/>
            <a:ext cx="182880" cy="182880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9875520" y="4343400"/>
            <a:ext cx="1143000" cy="1143000"/>
          </a:xfrm>
          <a:prstGeom prst="line">
            <a:avLst/>
          </a:prstGeom>
          <a:ln w="2540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5394960"/>
            <a:ext cx="182880" cy="18288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080760"/>
            <a:ext cx="1014984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236208"/>
            <a:ext cx="8046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ORDER  →  VALIDATE  →  PROCESS  →  TRACK  → 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 complete REST-based logistics order management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 complete REST-based logistics order management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Boot REST application for managing logistics orders.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Supports create, view, update, status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Uses validation, exception handling, DTOs and mapper layers.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Persists logistics data in MySQL through JPA/Hibernate.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Adds API documentation, monitoring, security, scheduling, AOP and file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Core technologies used to build, persist, document and test the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Core technologies used to build, persist, document and test the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Java 17 — application programming language.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Boot 3.5.5 — application framework.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Web — REST controllers and HTTP APIs.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Data JPA / Hibernate — ORM and database access.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MySQL — relational data persistence.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Swagger/OpenAPI, Actuator, Validation, AOP, Maven, Postman and JUnit/Spring Boot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Project Package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Layered organization keeps responsibilities separated and maintainable.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Layered organization keeps responsibilities separated and maintainable.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config — auditing and OpenAPI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controller — REST endpoints and request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dto — request and response models.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entity — database-mapped Customer, LogisticsOrder and Shipment models with JPA relationships.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repository — database access through JpaRepository.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service — business logic and workflow.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exception, mapper, scheduler, security and util — supporting application concerns.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Main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application entry point starts the Spring Boot runtime.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application entry point starts the Spring Boot runtime.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LogisticsManagementApplication.java is the main class.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@SpringBootApplication enables component scanning and auto-configuration.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@EnableScheduling enables scheduled background jobs.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SpringApplication.run(...) starts the application and embedded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Entity &amp; Database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project uses multiple entities and JPA relationships to model customers, orders and shipments.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project uses multiple entities and JPA relationships to model customers, orders and shipments.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 is mapped to the logistics_orders table using JPA.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Key fields include customer, source, destination and product.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Quantity, shipping cost and order status are maintained.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Auditing metadata can be maintained when enabled.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@Version can support optimistic locking for concurrent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DTO &amp; Mapper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DTOs keep the API contract separate from the database entity.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DTOs keep the API contract separate from the database 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LogisticsOrderRequest carries POST/PUT input data.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Validation annotations protect the incoming request.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LogisticsOrderResponse defines data returned to API clients.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LogisticsOrderMapper converts Request DTO → Entity and Entity → Response DTO.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This keeps controller and service code cleaner and more maintainable.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Repository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repository handles persistence; the service applies business rules.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repository handles persistence; the service applies business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Repository extends JpaRepository&lt;LogisticsOrder, Long&gt;.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Data provides save, find,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Custom queries support status and customer searches.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Examples: findByStatus(), findByCustomerName(), countByStatus().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Service methods cover create, get, update, updateStatus and delete.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REST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API exposes the core logistics order lifecycle.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API exposes the core logistics order lifecycle.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 /api/logistics/orders — create an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 — retrieve all orders.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/api/logistics/orders/{id} — retrieve one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PUT /api/logistics/orders/{id} — update an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PATCH/PUT /api/logistics/orders/{id}/status — update status.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DELETE /api/logistics/orders/{id} — delete an order.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GET /api/logistics/orders/status/{status} — filter by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Validation &amp; 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Invalid requests and missing resources are handled consistently.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Invalid requests and missing resources are handled consistently.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Bean Validation checks request data before business logic.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Uses @NotBlank, @NotNull, @Positive and @PositiveOrZero where applicable.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@Valid activates request-body validation.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ResourceNotFoundException handles missing orders.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GlobalExceptionHandler with @RestControllerAdvice returns consistent JSON error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Postman → MySQL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end-to-end request path from client call to database persistence.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end-to-end request path from client call to database persistence.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1. Postman sends the HTTP request.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2. Controller receives and validates the request.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3. Service applies business logic.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4. Mapper converts DTO data to the entity.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5. Repository uses Hibernate/JPA to persist data.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6. MySQL stores the logistics_orders record.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7. MySQL Workbench can be used to verify the saved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YAML &amp;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Configuration is separated so environments can use different settings.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Configuration is separated so environments can use different settings.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application.yml contains common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Development and production profiles can separate environment settings.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spring.profiles.active selects the active profile.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Hibernate ddl-auto is configured as update.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show-sql can display SQL statements.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exposure includes health, info and metrics.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Datasource settings can be placed in application-dev.yml.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Swagger / OpenAPI &amp; Actuator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project includes interactive API documentation and application monitoring.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project includes interactive API documentation and application monitoring.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UI provides an interactive API documentation experience.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UI: /swagger-ui/index.html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OpenAPI specification: /v3/api-docs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exposes operational endpoints.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Health: /actuator/health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Info: /actuator/info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 healthy running application normally reports status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Scheduling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Background execution and cross-cutting logging/monitoring are included.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Background execution and cross-cutting logging/monitoring are included.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LogisticsScheduler demonstrates scheduled background execution.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@Scheduled(fixedRate = 30000) runs periodically.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The scheduler can count orders or perform monitoring.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Spring AOP handles cross-cutting concerns.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@Aspect and @Around can intercept service-layer execution.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Logging can be added without repeating statements in service methods.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File Handling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The project includes controlled document handling and role-based API protection.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The project includes controlled document handling and role-based API protection.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FileStorageUtil supports controlled storage of logistics documents.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MultipartFile can be used for uploads.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File names should be validated and unsafe path traversal avoided.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Spring Security protects API endpoints.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Demonstration design uses HTTP Basic authentication.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ADMIN → /api/admin/**; USER or ADMIN → /api/logistics/**.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and actuator health/info are public in the demonstration.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Postman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API behavior can be demonstrated from request creation through database verification.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API behavior can be demonstrated from request creation through database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5349240" cy="4069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Start the Spring Boot application and wait for Tomcat on port 8080.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Use Authorization → Basic Auth for protected endpoints.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Test POST, GET, PUT/status update and DELETE operations.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Verify database changes in MySQL Workbench.</a:t>
            </a:r>
          </a:p>
          <a:p>
            <a:pPr>
              <a:spcAft>
                <a:spcPts val="8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Example: Ravi | Hyderabad → Vijayawada | Laptop | Qty 2 | Shipping cost 500.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Testing &amp;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Functional and security scenarios are covered by the project test plan.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Functional and security scenarios are covered by the project test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Application context starts successfully.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 creates an order; GET returns order data.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PUT updates an order; status update changes status.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DELETE removes an order.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Invalid input returns a validation error.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Missing ID returns a not-found response.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ADMIN can access admin endpoint; USER is rejected.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health returns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Recommended Run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A simple sequence for running and demonstrating the application.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A simple sequence for running and demonstrating the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1. Start MySQL and create/use logistics_db.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2. Check application.yml datasource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3. Maven Update Project in Eclipse.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4. Run LogisticsManagementApplication.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5. Confirm Tomcat is running on port 8080.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6. Test /actuator/health and open Swagger.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7. Test authentication in Postman.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8. Create an order and verify it in MySQL Workbench.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9. Run GET, PUT/status update, DELETE and automated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Data &amp;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Common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Typical setup and runtime issues with their practical checks.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Typical setup and runtime issues with their practical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Unknown database logistics_db → create the database or correct the datasource URL.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No static resource /api/shipments → confirm the requested path matches the controller mapping.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401 Unauthorized → check Basic Auth credentials.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403 Forbidden → authenticated user lacks the required role.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 unavailable → check Springdoc dependency and URL.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Actuator info empty → configure exposure/info properties.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Table missing → check schema and ddl-auto configuration.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Eclipse red errors → Maven Update Project, then Project → Clean.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27432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A9B8C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01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 Display"/>
              </a:defRPr>
            </a:pPr>
            <a:r>
              <a:t>Final Checklist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9B8CD"/>
                </a:solidFill>
                <a:latin typeface="Aptos"/>
              </a:defRPr>
            </a:pPr>
            <a:r>
              <a:t>What the completed project brings together.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2984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2331720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27080" y="3401568"/>
            <a:ext cx="109728" cy="109728"/>
          </a:xfrm>
          <a:prstGeom prst="ellipse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75720" y="4498848"/>
            <a:ext cx="109728" cy="109728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73384" y="1353312"/>
            <a:ext cx="457200" cy="1033272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81944" y="2386584"/>
            <a:ext cx="548640" cy="1069848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1944" y="3456432"/>
            <a:ext cx="548640" cy="1097280"/>
          </a:xfrm>
          <a:prstGeom prst="line">
            <a:avLst/>
          </a:prstGeom>
          <a:ln w="20320">
            <a:solidFill>
              <a:srgbClr val="2F43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6446520"/>
            <a:ext cx="10058400" cy="16459"/>
          </a:xfrm>
          <a:prstGeom prst="rect">
            <a:avLst/>
          </a:prstGeom>
          <a:solidFill>
            <a:srgbClr val="2F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9B8CD"/>
                </a:solidFill>
                <a:latin typeface="Aptos"/>
              </a:defRPr>
            </a:pPr>
            <a:r>
              <a:t>LOGISTICS MANAGEMENT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298448"/>
            <a:ext cx="324612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298448"/>
            <a:ext cx="54864" cy="1417320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463039"/>
            <a:ext cx="2862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WHAT THIS PART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1828800"/>
            <a:ext cx="28620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30" b="0">
                <a:solidFill>
                  <a:srgbClr val="A9B8CD"/>
                </a:solidFill>
                <a:latin typeface="Aptos"/>
              </a:defRPr>
            </a:pPr>
            <a:r>
              <a:t>What the completed project brings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1298448"/>
            <a:ext cx="5989320" cy="489204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51790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1BEEF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901952"/>
            <a:ext cx="2578608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REST APIs with layered architecture.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JPA/Hibernate and MySQL persistence.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DTOs, mapper, validation and exception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Swagger/OpenAPI documentation and Actuator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901952"/>
            <a:ext cx="2724912" cy="3977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YAML/profiles, AOP, scheduling and file handling.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Authentication and authorization.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Postman verification, MySQL checks and automated tests.</a:t>
            </a:r>
          </a:p>
          <a:p>
            <a:pPr>
              <a:spcAft>
                <a:spcPts val="800"/>
              </a:spcAft>
              <a:defRPr sz="1170">
                <a:solidFill>
                  <a:srgbClr val="F5F8FC"/>
                </a:solidFill>
                <a:latin typeface="Aptos"/>
              </a:defRPr>
            </a:pPr>
            <a:r>
              <a:t>End-to-end workflow: request → validation → business logic → persistence → response.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298448"/>
            <a:ext cx="1463040" cy="1417320"/>
          </a:xfrm>
          <a:prstGeom prst="roundRect">
            <a:avLst/>
          </a:prstGeom>
          <a:solidFill>
            <a:srgbClr val="122037"/>
          </a:solidFill>
          <a:ln w="8890">
            <a:solidFill>
              <a:srgbClr val="2F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298448"/>
            <a:ext cx="54864" cy="1417320"/>
          </a:xfrm>
          <a:prstGeom prst="rect">
            <a:avLst/>
          </a:prstGeom>
          <a:solidFill>
            <a:srgbClr val="41B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8" y="1463039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KEY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1828800"/>
            <a:ext cx="107899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A9B8CD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154680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9B8CD"/>
                </a:solidFill>
                <a:latin typeface="Aptos"/>
              </a:defRPr>
            </a:pPr>
            <a:r>
              <a:t>MODULE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Additional Entity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The project was expanded beyond the original single LogisticsOrder 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/>
              <a:t>• Customer.java — stores customer information and is related to logistics orders.</a:t>
            </a:r>
          </a:p>
          <a:p>
            <a:r>
              <a:rPr sz="1900" b="0"/>
              <a:t>• LogisticsOrder.java — stores order, route, product, quantity, cost and status information.</a:t>
            </a:r>
          </a:p>
          <a:p>
            <a:r>
              <a:rPr sz="1900" b="0"/>
              <a:t>• Shipment.java — stores tracking number, carrier, shipment status and delivery dates.</a:t>
            </a:r>
          </a:p>
          <a:p>
            <a:r>
              <a:rPr sz="1900" b="0"/>
              <a:t>• Separate repositories can persist Customer, LogisticsOrder and Shipment records.</a:t>
            </a:r>
          </a:p>
          <a:p>
            <a:r>
              <a:rPr sz="1900" b="0"/>
              <a:t>• The additional entities demonstrate a relational database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LOGISTICS MANAGEMENT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JPA Relationship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Customer → LogisticsOrder → Shipment represents the main business relationship.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/>
              <a:t>• Customer 1 → many LogisticsOrder records.</a:t>
            </a:r>
          </a:p>
          <a:p>
            <a:r>
              <a:rPr sz="1900" b="0"/>
              <a:t>• LogisticsOrder 1 → many Shipment records.</a:t>
            </a:r>
          </a:p>
          <a:p>
            <a:r>
              <a:rPr sz="1900" b="0"/>
              <a:t>• customers.id connects to logistics_orders.customer_id.</a:t>
            </a:r>
          </a:p>
          <a:p>
            <a:r>
              <a:rPr sz="1900" b="0"/>
              <a:t>• logistics_orders.id connects to shipments.order_id.</a:t>
            </a:r>
          </a:p>
          <a:p>
            <a:r>
              <a:rPr sz="1900" b="0"/>
              <a:t>• JPA relationship annotations such as @ManyToOne and @OneToMany represent these links.</a:t>
            </a:r>
          </a:p>
          <a:p>
            <a:r>
              <a:rPr sz="1900" b="0"/>
              <a:t>• MySQL foreign keys enforce the relationships in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LOGISTICS MANAGEMENT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Relationship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The relationships can be demonstrated through Postman and MySQL Workbench.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/>
              <a:t>• POST/PUT requests are processed through Controller → Service → Mapper → Repository → JPA → MySQL.</a:t>
            </a:r>
          </a:p>
          <a:p>
            <a:r>
              <a:rPr sz="1900" b="0"/>
              <a:t>• SELECT * FROM customers; verifies customer records.</a:t>
            </a:r>
          </a:p>
          <a:p>
            <a:r>
              <a:rPr sz="1900" b="0"/>
              <a:t>• SELECT * FROM logistics_orders; verifies order records.</a:t>
            </a:r>
          </a:p>
          <a:p>
            <a:r>
              <a:rPr sz="1900" b="0"/>
              <a:t>• SELECT * FROM shipments; verifies shipment records.</a:t>
            </a:r>
          </a:p>
          <a:p>
            <a:r>
              <a:rPr sz="1900" b="0"/>
              <a:t>• JOIN queries display Customer → Order → Shipment together.</a:t>
            </a:r>
          </a:p>
          <a:p>
            <a:r>
              <a:rPr sz="1900" b="0"/>
              <a:t>• This adds the missing multi-entity and relationship concepts to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LOGISTICS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